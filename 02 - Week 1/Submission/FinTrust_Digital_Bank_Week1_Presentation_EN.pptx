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96DE"/>
                </a:solidFill>
              </a:defRPr>
            </a:pPr>
            <a:r>
              <a:t>ANALYSTLAB AFRICA - EXPERIENCE LAB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FinTrust Digital Bank: Business Intelligence &amp; Strategy</a:t>
            </a:r>
          </a:p>
          <a:p>
            <a:pPr>
              <a:defRPr sz="1800">
                <a:solidFill>
                  <a:srgbClr val="C8DCF5"/>
                </a:solidFill>
              </a:defRPr>
            </a:pPr>
            <a:r>
              <a:t>Week 1 Deliverables: Business Understanding, Data Profiling &amp; Analytics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1B3059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Prepared by: Mouhamadou Andalla Mbaye</a:t>
            </a:r>
          </a:p>
          <a:p>
            <a:pPr>
              <a:defRPr sz="1400">
                <a:solidFill>
                  <a:srgbClr val="3896DE"/>
                </a:solidFill>
              </a:defRPr>
            </a:pPr>
            <a:r>
              <a:t>Role: Data Analyst Intern | Track: Data Analytics</a:t>
            </a:r>
          </a:p>
          <a:p>
            <a:pPr>
              <a:defRPr sz="1200">
                <a:solidFill>
                  <a:srgbClr val="D2E1F5"/>
                </a:solidFill>
              </a:defRPr>
            </a:pPr>
            <a:r>
              <a:t>Email: m.andalla.mbaye@gmail.com | Submission: Week 1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1. Executive Summary &amp; Business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043"/>
                </a:solidFill>
              </a:defRPr>
            </a:pPr>
            <a:r>
              <a:t>BUSINESS PROBLEM</a:t>
            </a:r>
          </a:p>
          <a:p>
            <a:br/>
            <a:pPr>
              <a:defRPr sz="1200">
                <a:solidFill>
                  <a:srgbClr val="505A69"/>
                </a:solidFill>
              </a:defRPr>
            </a:pPr>
            <a:r>
              <a:t>• FinTrust Digital Bank needs data-driven insights into customer behavior and transaction trends.</a:t>
            </a:r>
            <a:br/>
            <a:r>
              <a:t>• High failure/reversal rates on specific channels degrade customer experience.</a:t>
            </a:r>
            <a:br/>
            <a:r>
              <a:t>• Operational risks require early detection via transaction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043"/>
                </a:solidFill>
              </a:defRPr>
            </a:pPr>
            <a:r>
              <a:t>BUSINESS IMPORTANCE</a:t>
            </a:r>
          </a:p>
          <a:p>
            <a:br/>
            <a:pPr>
              <a:defRPr sz="1200">
                <a:solidFill>
                  <a:srgbClr val="505A69"/>
                </a:solidFill>
              </a:defRPr>
            </a:pPr>
            <a:r>
              <a:t>• Operations rely on multi-channel efficiency (Mobile App, Web, ATM, POS, USSD).</a:t>
            </a:r>
            <a:br/>
            <a:r>
              <a:t>• Customer retention depends on minimizing transaction friction.</a:t>
            </a:r>
            <a:br/>
            <a:r>
              <a:t>• Effective risk scoring (Risk Review Flag) prevents financial loss and maintains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043"/>
                </a:solidFill>
              </a:defRPr>
            </a:pPr>
            <a:r>
              <a:t>DATA ANALYTICS ROLE</a:t>
            </a:r>
          </a:p>
          <a:p>
            <a:br/>
            <a:pPr>
              <a:defRPr sz="1200">
                <a:solidFill>
                  <a:srgbClr val="505A69"/>
                </a:solidFill>
              </a:defRPr>
            </a:pPr>
            <a:r>
              <a:t>• Transform raw customer &amp; transaction data into actionable decision intelligence.</a:t>
            </a:r>
            <a:br/>
            <a:r>
              <a:t>• Design robust DAX measures, star schema models, and interactive Power BI dashboards.</a:t>
            </a:r>
            <a:br/>
            <a:r>
              <a:t>• Align analytical KPIs with executive strategic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2. Key Stakeholders &amp; Strategic Decisions Supported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5912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2043"/>
                </a:solidFill>
              </a:defRPr>
            </a:pPr>
            <a:r>
              <a:t>EXECUTIVE LEADERSHIP</a:t>
            </a:r>
          </a:p>
          <a:p>
            <a:pPr>
              <a:defRPr sz="1200">
                <a:solidFill>
                  <a:srgbClr val="505A69"/>
                </a:solidFill>
              </a:defRPr>
            </a:pPr>
            <a:r>
              <a:t>Monitors overall bank health, channel adoption, financial growth, and digital customer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725912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96DE"/>
                </a:solidFill>
              </a:defRPr>
            </a:pPr>
            <a:r>
              <a:t>RISK &amp; COMPLIANCE TEAM</a:t>
            </a:r>
          </a:p>
          <a:p>
            <a:pPr>
              <a:defRPr sz="1200">
                <a:solidFill>
                  <a:srgbClr val="505A69"/>
                </a:solidFill>
              </a:defRPr>
            </a:pPr>
            <a:r>
              <a:t>Uses risk flag distribution, geographic anomalies, and international transfer trends to refine security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25912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2043"/>
                </a:solidFill>
              </a:defRPr>
            </a:pPr>
            <a:r>
              <a:t>OPERATIONS &amp; TECH TEAM</a:t>
            </a:r>
          </a:p>
          <a:p>
            <a:pPr>
              <a:defRPr sz="1200">
                <a:solidFill>
                  <a:srgbClr val="505A69"/>
                </a:solidFill>
              </a:defRPr>
            </a:pPr>
            <a:r>
              <a:t>Identifies channel friction, failed/reversed transaction spikes, and device compatibility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725912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96DE"/>
                </a:solidFill>
              </a:defRPr>
            </a:pPr>
            <a:r>
              <a:t>MARKETING &amp; PRODUCT TEAM</a:t>
            </a:r>
          </a:p>
          <a:p>
            <a:pPr>
              <a:defRPr sz="1200">
                <a:solidFill>
                  <a:srgbClr val="505A69"/>
                </a:solidFill>
              </a:defRPr>
            </a:pPr>
            <a:r>
              <a:t>Tailors customer segment strategies (Premium, SME, Student, Everyday) and income-based offerings.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3. Data Profiling &amp; Dataset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043"/>
                </a:solidFill>
              </a:defRPr>
            </a:pPr>
            <a:r>
              <a:t>CUSTOMER DATASET (1,500 Records)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• Key Identifier: Customer_ID (Primary Key)</a:t>
            </a:r>
            <a:br/>
            <a:r>
              <a:t>• Total Columns: 12 fields</a:t>
            </a:r>
            <a:br/>
            <a:r>
              <a:t>• Missing Values: 0 (100% complete)</a:t>
            </a:r>
            <a:br/>
            <a:r>
              <a:t>• Key Categorical Variables:</a:t>
            </a:r>
            <a:br/>
            <a:r>
              <a:t>  - Gender (Male, Female, Prefer not to say)</a:t>
            </a:r>
            <a:br/>
            <a:r>
              <a:t>  - City (8 Nigerian hubs: Lagos, Abuja, Kano...)</a:t>
            </a:r>
            <a:br/>
            <a:r>
              <a:t>  - Customer_Segment (Premium, Everyday, SME, Student)</a:t>
            </a:r>
            <a:br/>
            <a:r>
              <a:t>  - Account_Type (Savings, Current, Premium)</a:t>
            </a:r>
            <a:br/>
            <a:r>
              <a:t>  - Monthly_Income_Band (5 tiers)</a:t>
            </a:r>
            <a:br/>
            <a:r>
              <a:t>  - Preferred_Channel (Mobile App, USSD, Web)</a:t>
            </a:r>
            <a:br/>
            <a:r>
              <a:t>• Key Numerical Variables:</a:t>
            </a:r>
            <a:br/>
            <a:r>
              <a:t>  - Age (Range: 18 - 65, Mean: 41.6)</a:t>
            </a:r>
            <a:br/>
            <a:r>
              <a:t>  - Tenure_Months (Range: 1 - 96, Mean: 49.9)</a:t>
            </a:r>
            <a:br/>
            <a:r>
              <a:t>  - Digital_Engagement_Score (Range: 16.7 - 100, Mean: 68.0)</a:t>
            </a:r>
            <a:br/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043"/>
                </a:solidFill>
              </a:defRPr>
            </a:pPr>
            <a:r>
              <a:t>TRANSACTION DATASET (12,000 Records)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• Key Identifier: Transaction_ID | FK: Customer_ID</a:t>
            </a:r>
            <a:br/>
            <a:r>
              <a:t>• Total Columns: 11 fields</a:t>
            </a:r>
            <a:br/>
            <a:r>
              <a:t>• Missing Values: 96 in Device_Type &amp; Location (~0.8%)</a:t>
            </a:r>
            <a:br/>
            <a:r>
              <a:t>• Key Categorical Variables:</a:t>
            </a:r>
            <a:br/>
            <a:r>
              <a:t>  - Transaction_Type (Transfer, Card Purchase, Deposit...)</a:t>
            </a:r>
            <a:br/>
            <a:r>
              <a:t>  - Channel (Mobile App, ATM, POS, Web, USSD)</a:t>
            </a:r>
            <a:br/>
            <a:r>
              <a:t>  - Device_Type (Android, iOS, POS, ATM, Web)</a:t>
            </a:r>
            <a:br/>
            <a:r>
              <a:t>  - Transaction_Status (Successful, Failed, Reversed, Pending)</a:t>
            </a:r>
            <a:br/>
            <a:r>
              <a:t>  - Risk_Review_Flag (Yes, No)</a:t>
            </a:r>
            <a:br/>
            <a:r>
              <a:t>  - International_Transaction (Yes, No)</a:t>
            </a:r>
            <a:br/>
            <a:r>
              <a:t>• Key Numerical Variables:</a:t>
            </a:r>
            <a:br/>
            <a:r>
              <a:t>  - Amount_NGN (Range: 100.17 - 693,454.45 NGN)</a:t>
            </a:r>
            <a:br/>
            <a:r>
              <a:t>  - Total Volume: ~560.48M NGN | Mean: 46,706.45 NGN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4. Data Quality Assessment &amp; Technical Observations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2043"/>
                </a:solidFill>
              </a:defRPr>
            </a:pPr>
            <a:r>
              <a:t>REFERENTIAL INTEGRITY</a:t>
            </a:r>
          </a:p>
          <a:p>
            <a:pPr>
              <a:defRPr b="1" sz="1200">
                <a:solidFill>
                  <a:srgbClr val="0F2043"/>
                </a:solidFill>
              </a:defRPr>
            </a:pPr>
            <a:r>
              <a:t>Status: 100% Valid Joins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All Customer_IDs present in the Transaction table exist in the Customer master table. Zero orphan transactions detected.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96DE"/>
                </a:solidFill>
              </a:defRPr>
            </a:pPr>
            <a:r>
              <a:t>MISSING VALUE HANDLING</a:t>
            </a:r>
          </a:p>
          <a:p>
            <a:pPr>
              <a:defRPr b="1" sz="1200">
                <a:solidFill>
                  <a:srgbClr val="0F2043"/>
                </a:solidFill>
              </a:defRPr>
            </a:pPr>
            <a:r>
              <a:t>Status: 96 Missing Values (~0.8%)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Missing entries in Device_Type and Location are intentional synthetic noise. Will be imputed or marked as 'Unknown' in Power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2043"/>
                </a:solidFill>
              </a:defRPr>
            </a:pPr>
            <a:r>
              <a:t>DATETIME FORMATTING</a:t>
            </a:r>
          </a:p>
          <a:p>
            <a:pPr>
              <a:defRPr b="1" sz="1200">
                <a:solidFill>
                  <a:srgbClr val="0F2043"/>
                </a:solidFill>
              </a:defRPr>
            </a:pPr>
            <a:r>
              <a:t>Status: String to Datetime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Transaction_DateTime is stored as MM/DD/YYYY HH:MM text. Requires transformation to ISO Datetime in ETL for time-series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96DE"/>
                </a:solidFill>
              </a:defRPr>
            </a:pPr>
            <a:r>
              <a:t>SKEWED DISTRIBUTION</a:t>
            </a:r>
          </a:p>
          <a:p>
            <a:pPr>
              <a:defRPr b="1" sz="1200">
                <a:solidFill>
                  <a:srgbClr val="0F2043"/>
                </a:solidFill>
              </a:defRPr>
            </a:pPr>
            <a:r>
              <a:t>Status: Right-Skewed Amount</a:t>
            </a:r>
          </a:p>
          <a:p>
            <a:br/>
            <a:pPr>
              <a:defRPr sz="1100">
                <a:solidFill>
                  <a:srgbClr val="505A69"/>
                </a:solidFill>
              </a:defRPr>
            </a:pPr>
            <a:r>
              <a:t>Amount_NGN has a median of 10,305.94 NGN vs mean of 46,706.45 NGN (Max: 693k NGN). Segmentation needed for high-value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5. Core Analytical Questions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Q1. Demographics &amp; Engagement: </a:t>
            </a:r>
            <a:r>
              <a:rPr b="0">
                <a:solidFill>
                  <a:srgbClr val="505A69"/>
                </a:solidFill>
              </a:rPr>
              <a:t>How do customer age and income band correlate with Digital Engagement Scores across segments?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Q2. Channel Performance: </a:t>
            </a:r>
            <a:r>
              <a:rPr b="0">
                <a:solidFill>
                  <a:srgbClr val="505A69"/>
                </a:solidFill>
              </a:rPr>
              <a:t>Which transaction channels process the highest monetary volume (NGN) and transaction counts?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Q3. Operational Friction: </a:t>
            </a:r>
            <a:r>
              <a:rPr b="0">
                <a:solidFill>
                  <a:srgbClr val="505A69"/>
                </a:solidFill>
              </a:rPr>
              <a:t>What is the failure/reversal rate per channel and transaction type, and where are system failures concentrated?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Q4. Risk Pattern Analysis: </a:t>
            </a:r>
            <a:r>
              <a:rPr b="0">
                <a:solidFill>
                  <a:srgbClr val="505A69"/>
                </a:solidFill>
              </a:rPr>
              <a:t>What key attributes (channel, location, international flag, amount) characterize transactions flagged for Risk Review?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Q5. Customer Value Contribution: </a:t>
            </a:r>
            <a:r>
              <a:rPr b="0">
                <a:solidFill>
                  <a:srgbClr val="505A69"/>
                </a:solidFill>
              </a:rPr>
              <a:t>Which customer segments (Premium, SME, Everyday, Student) generate the highest average transaction value?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Q6. Preferred vs Actual Channel: </a:t>
            </a:r>
            <a:r>
              <a:rPr b="0">
                <a:solidFill>
                  <a:srgbClr val="505A69"/>
                </a:solidFill>
              </a:rPr>
              <a:t>To what extent do customers' actual transaction channels align with their declared preferred channels?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5912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Q7. Geographic Heatmaps: </a:t>
            </a:r>
            <a:r>
              <a:rPr b="0">
                <a:solidFill>
                  <a:srgbClr val="505A69"/>
                </a:solidFill>
              </a:rPr>
              <a:t>How are transaction volumes and risk review flags distributed across major Nigerian urban hubs?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6. Key Performance Indicators (KPI)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4114800"/>
                <a:gridCol w="249631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Formula / Baseline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Required Data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Total Volume (NGN)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SUM(Amount_NGN)</a:t>
                      </a:r>
                    </a:p>
                    <a:p>
                      <a:r>
                        <a:t>Baseline: 560.48M NGN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Measures overall monetary throughput across the bank's system.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Amount_NGN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COUNT(Transaction_ID)</a:t>
                      </a:r>
                    </a:p>
                    <a:p>
                      <a:r>
                        <a:t>Baseline: 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Tracks customer adoption and digital engagement frequency.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Average Transaction Value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AVERAGE(Amount_NGN)</a:t>
                      </a:r>
                    </a:p>
                    <a:p>
                      <a:r>
                        <a:t>Baseline: 46,706.45 NGN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Establishes baseline spending behavior for limit setting and tiering.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Amount_NGN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(Successful / Total) * 100</a:t>
                      </a:r>
                    </a:p>
                    <a:p>
                      <a:r>
                        <a:t>Baseline: 90.47%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Primary operational KPI for reliability and user satisfaction.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 Failure Rate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(Failed / Total) * 100</a:t>
                      </a:r>
                    </a:p>
                    <a:p>
                      <a:r>
                        <a:t>Baseline: 5.25%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Detects infrastructure outages and technical integration issues.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Transaction_Status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Risk Review Flag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(Risk_Flag = 'Yes' / Total) * 100</a:t>
                      </a:r>
                    </a:p>
                    <a:p>
                      <a:r>
                        <a:t>Baseline: 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Monitors proportion of transactions flagged for risk audit.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05A69"/>
                          </a:solidFill>
                        </a:defRPr>
                      </a:pPr>
                      <a:r>
                        <a:t>Risk_Review_Flag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7. Power BI Dashboard Wireframe &amp; Page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2043"/>
                </a:solidFill>
              </a:defRPr>
            </a:pPr>
            <a:r>
              <a:t>PAGE 1: EXECUTIVE OVERVIEW</a:t>
            </a:r>
          </a:p>
          <a:p>
            <a:pPr>
              <a:defRPr b="1" sz="1100">
                <a:solidFill>
                  <a:srgbClr val="0F2043"/>
                </a:solidFill>
              </a:defRPr>
            </a:pPr>
            <a:r>
              <a:t>Financial Performance &amp; High-Level Metrics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Top KPI Cards: Volume (NGN), Tx Count, Avg Tx Value, Success Rate.</a:t>
            </a:r>
            <a:br/>
            <a:r>
              <a:t>• Bar Chart: Transaction Volume trend over time by Channel.</a:t>
            </a:r>
            <a:br/>
            <a:r>
              <a:t>• Donut Chart: Volume share by Customer Segment.</a:t>
            </a:r>
            <a:br/>
            <a:r>
              <a:t>• Column Chart: Top 5 Cities by Total Volume NGN.</a:t>
            </a:r>
            <a:br/>
            <a:r>
              <a:t>• Executive Filters: Date Range, Segment, Channel, 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96DE"/>
                </a:solidFill>
              </a:defRPr>
            </a:pPr>
            <a:r>
              <a:t>PAGE 2: OPERATIONAL INTELLIGENCE</a:t>
            </a:r>
          </a:p>
          <a:p>
            <a:pPr>
              <a:defRPr b="1" sz="1100">
                <a:solidFill>
                  <a:srgbClr val="0F2043"/>
                </a:solidFill>
              </a:defRPr>
            </a:pPr>
            <a:r>
              <a:t>Channel Reliability &amp; System Health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KPI Cards: Failure Rate (%), Reversal Rate (%), Avg Digital Engagement.</a:t>
            </a:r>
            <a:br/>
            <a:r>
              <a:t>• 100% Stacked Bar: Transaction Status distribution by Channel.</a:t>
            </a:r>
            <a:br/>
            <a:r>
              <a:t>• Matrix Visual: Preferred Channel vs Actual Executed Channel.</a:t>
            </a:r>
            <a:br/>
            <a:r>
              <a:t>• Bar Chart: Volume &amp; Failure distribution by Device Type.</a:t>
            </a:r>
            <a:br/>
            <a:r>
              <a:t>• Operational Filters: Channel, Device Type,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2043"/>
                </a:solidFill>
              </a:defRPr>
            </a:pPr>
            <a:r>
              <a:t>PAGE 3: RISK INTELLIGENCE</a:t>
            </a:r>
          </a:p>
          <a:p>
            <a:pPr>
              <a:defRPr b="1" sz="1100">
                <a:solidFill>
                  <a:srgbClr val="0F2043"/>
                </a:solidFill>
              </a:defRPr>
            </a:pPr>
            <a:r>
              <a:t>Risk Review &amp; Anomaly Monitoring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KPI Cards: Risk Flag Rate (%), Risk Volume (NGN), International Risk Count.</a:t>
            </a:r>
            <a:br/>
            <a:r>
              <a:t>• Grouped Bar: Risk Review Flag % by Transaction Type.</a:t>
            </a:r>
            <a:br/>
            <a:r>
              <a:t>• Geographic Map: Risk concentration by City/Location.</a:t>
            </a:r>
            <a:br/>
            <a:r>
              <a:t>• Detailed Matrix: High-risk transactions drill-down.</a:t>
            </a:r>
            <a:br/>
            <a:r>
              <a:t>• Risk Filters: Risk Flag, International Flag, Amount 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96DE"/>
                </a:solidFill>
              </a:defRPr>
            </a:pPr>
            <a:r>
              <a:t>FINTRUST DIGITAL BANK - WEEK 1 ASSIGNMENT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8. Four-Week Master 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WEEK 1 (CURRENT)</a:t>
            </a:r>
          </a:p>
          <a:p>
            <a:pPr>
              <a:defRPr b="1" sz="1000">
                <a:solidFill>
                  <a:srgbClr val="0F2043"/>
                </a:solidFill>
              </a:defRPr>
            </a:pPr>
            <a:r>
              <a:t>Foundation &amp; Planning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Business Problem Definition</a:t>
            </a:r>
            <a:br/>
            <a:r>
              <a:t>• Data Profiling &amp; Quality Assessment</a:t>
            </a:r>
            <a:br/>
            <a:r>
              <a:t>• Analytical Questions &amp; KPI Matrix</a:t>
            </a:r>
            <a:br/>
            <a:r>
              <a:t>• Dashboard Wireframe Planning</a:t>
            </a:r>
            <a:br/>
            <a:r>
              <a:t>• GitHub &amp; Branding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896DE"/>
                </a:solidFill>
              </a:defRPr>
            </a:pPr>
            <a:r>
              <a:t>WEEK 2</a:t>
            </a:r>
          </a:p>
          <a:p>
            <a:pPr>
              <a:defRPr b="1" sz="1000">
                <a:solidFill>
                  <a:srgbClr val="0F2043"/>
                </a:solidFill>
              </a:defRPr>
            </a:pPr>
            <a:r>
              <a:t>Data Prep &amp; Star Schema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Handle Missing Values in Power Query</a:t>
            </a:r>
            <a:br/>
            <a:r>
              <a:t>• Date Dimension Creation (Dim_Date)</a:t>
            </a:r>
            <a:br/>
            <a:r>
              <a:t>• Build Star Schema Data Model</a:t>
            </a:r>
            <a:br/>
            <a:r>
              <a:t>• Establish Cross-Track Data Exports</a:t>
            </a:r>
            <a:br/>
            <a:r>
              <a:t>• DAX Baseline Calculation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2043"/>
                </a:solidFill>
              </a:defRPr>
            </a:pPr>
            <a:r>
              <a:t>WEEK 3</a:t>
            </a:r>
          </a:p>
          <a:p>
            <a:pPr>
              <a:defRPr b="1" sz="1000">
                <a:solidFill>
                  <a:srgbClr val="0F2043"/>
                </a:solidFill>
              </a:defRPr>
            </a:pPr>
            <a:r>
              <a:t>Power BI Development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Develop Advanced DAX Measures</a:t>
            </a:r>
            <a:br/>
            <a:r>
              <a:t>• Build Interactive 3-Page Dashboard</a:t>
            </a:r>
            <a:br/>
            <a:r>
              <a:t>• Implement Slicers &amp; Dynamic Tooltips</a:t>
            </a:r>
            <a:br/>
            <a:r>
              <a:t>• Format Theme (Navy &amp; Sky Blue)</a:t>
            </a:r>
            <a:br/>
            <a:r>
              <a:t>• Conduct Usability &amp; Data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F5F8FC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896DE"/>
                </a:solidFill>
              </a:defRPr>
            </a:pPr>
            <a:r>
              <a:t>WEEK 4</a:t>
            </a:r>
          </a:p>
          <a:p>
            <a:pPr>
              <a:defRPr b="1" sz="1000">
                <a:solidFill>
                  <a:srgbClr val="0F2043"/>
                </a:solidFill>
              </a:defRPr>
            </a:pPr>
            <a:r>
              <a:t>Insights &amp; Final Restitution</a:t>
            </a:r>
          </a:p>
          <a:p>
            <a:br/>
            <a:pPr>
              <a:defRPr sz="1000">
                <a:solidFill>
                  <a:srgbClr val="505A69"/>
                </a:solidFill>
              </a:defRPr>
            </a:pPr>
            <a:r>
              <a:t>• Extract Key Strategic Insights</a:t>
            </a:r>
            <a:br/>
            <a:r>
              <a:t>• Finalize Executive Presentation Report</a:t>
            </a:r>
            <a:br/>
            <a:r>
              <a:t>• Cross-Track Solution Integration</a:t>
            </a:r>
            <a:br/>
            <a:r>
              <a:t>• Public Portfolio Release (GitHub/LinkedIn)</a:t>
            </a:r>
            <a:br/>
            <a:r>
              <a:t>• Final Project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96DE"/>
                </a:solidFill>
              </a:defRPr>
            </a:pPr>
            <a:r>
              <a:t>ANALYSTLAB AFRICA - WEEK 1 ASSIGNMENT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br/>
            <a:pPr>
              <a:defRPr sz="1600">
                <a:solidFill>
                  <a:srgbClr val="C8DCF5"/>
                </a:solidFill>
              </a:defRPr>
            </a:pPr>
            <a:r>
              <a:t>FinTrust Digital Bank Business Intelligence Assessment complete and ready for Week 2 implementation.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0332720" cy="1828800"/>
          </a:xfrm>
          <a:prstGeom prst="roundRect">
            <a:avLst/>
          </a:prstGeom>
          <a:solidFill>
            <a:srgbClr val="1B3059"/>
          </a:solidFill>
          <a:ln>
            <a:solidFill>
              <a:srgbClr val="389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Contact &amp; Submission Information:</a:t>
            </a:r>
          </a:p>
          <a:p>
            <a:pPr>
              <a:defRPr sz="1300">
                <a:solidFill>
                  <a:srgbClr val="3896DE"/>
                </a:solidFill>
              </a:defRPr>
            </a:pPr>
            <a:r>
              <a:t>• Intern Name: Mouhamadou Andalla Mbaye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Email: m.andalla.mbaye@gmail.com</a:t>
            </a:r>
          </a:p>
          <a:p>
            <a:pPr>
              <a:defRPr sz="1300">
                <a:solidFill>
                  <a:srgbClr val="D2E1F5"/>
                </a:solidFill>
              </a:defRPr>
            </a:pPr>
            <a:r>
              <a:t>• Track: Data Analytics | Program: AnalystLab Africa Experience Lab (Week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