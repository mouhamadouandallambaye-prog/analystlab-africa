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Plus Jakarta Sans"/>
      <p:bold r:id="rId14"/>
      <p:italic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1" d="100"/>
          <a:sy n="61" d="100"/>
        </p:scale>
        <p:origin x="86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5495776"/>
            <a:ext cx="10972800" cy="9048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439275" y="571500"/>
            <a:ext cx="2143125" cy="304800"/>
          </a:xfrm>
          <a:prstGeom prst="roundRect">
            <a:avLst>
              <a:gd name="adj" fmla="val 50000"/>
            </a:avLst>
          </a:prstGeom>
          <a:solidFill>
            <a:srgbClr val="12324B"/>
          </a:solidFill>
          <a:ln w="9525">
            <a:solidFill>
              <a:srgbClr val="194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5495776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848725" y="5991076"/>
            <a:ext cx="2733675" cy="409575"/>
          </a:xfrm>
          <a:prstGeom prst="roundRect">
            <a:avLst>
              <a:gd name="adj" fmla="val 18604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2722959" cy="533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9225" y="6119663"/>
            <a:ext cx="152400" cy="152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91675" y="628650"/>
            <a:ext cx="19335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8BDF8"/>
                </a:solidFill>
                <a:latin typeface="Plus Jakarta Sans"/>
              </a:rPr>
              <a:t>Semaine 1 — FinTrust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481262"/>
            <a:ext cx="107156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8BDF8"/>
                </a:solidFill>
                <a:latin typeface="Plus Jakarta Sans"/>
              </a:rPr>
              <a:t>TRACK DATA 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833687"/>
            <a:ext cx="11251406" cy="5695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sz="3900" b="1" i="0" u="none">
                <a:solidFill>
                  <a:srgbClr val="FFFFFF"/>
                </a:solidFill>
                <a:latin typeface="Plus Jakarta Sans"/>
              </a:rPr>
              <a:t>FinTrust Digital Bank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555652"/>
            <a:ext cx="9101137" cy="63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 i="0" u="none">
                <a:solidFill>
                  <a:srgbClr val="94A3B8"/>
                </a:solidFill>
                <a:latin typeface="Plus Jakarta Sans"/>
              </a:rPr>
              <a:t>Évaluation d'Intelligence Business, Profilage des Données &amp; Cadrage Analytique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4959" y="623887"/>
            <a:ext cx="416718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8BDF8"/>
                </a:solidFill>
                <a:latin typeface="Plus Jakarta Sans"/>
              </a:rPr>
              <a:t>ANALYSTLAB AFRICA — EXPERIENCELAB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733901"/>
            <a:ext cx="3369468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Auteur du rapport 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943451"/>
            <a:ext cx="336946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Plus Jakarta Sans"/>
              </a:rPr>
              <a:t>Mouhamadou Andalla Mbaye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219676"/>
            <a:ext cx="3369468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8BDF8"/>
                </a:solidFill>
                <a:latin typeface="Plus Jakarta Sans"/>
              </a:rPr>
              <a:t>Stagiaire Data Analyst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6875" y="6105376"/>
            <a:ext cx="263128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F1F5F9"/>
                </a:solidFill>
                <a:latin typeface="Plus Jakarta Sans"/>
              </a:rPr>
              <a:t>m.andalla.mbaye@gmail.com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819775"/>
            <a:ext cx="10972800" cy="581025"/>
          </a:xfrm>
          <a:prstGeom prst="roundRect">
            <a:avLst>
              <a:gd name="adj" fmla="val 19672"/>
            </a:avLst>
          </a:prstGeom>
          <a:solidFill>
            <a:srgbClr val="0B19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1276350"/>
            <a:ext cx="5334000" cy="4314825"/>
          </a:xfrm>
          <a:prstGeom prst="roundRect">
            <a:avLst>
              <a:gd name="adj" fmla="val 353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48400" y="1276350"/>
            <a:ext cx="5334000" cy="4314825"/>
          </a:xfrm>
          <a:prstGeom prst="roundRect">
            <a:avLst>
              <a:gd name="adj" fmla="val 353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6767" y="561975"/>
            <a:ext cx="2205632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2652712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725" y="2652712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175" y="2747962"/>
            <a:ext cx="19050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975" y="2747962"/>
            <a:ext cx="190500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6300" y="6010275"/>
            <a:ext cx="1785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8BDF8"/>
                </a:solidFill>
                <a:latin typeface="Plus Jakarta Sans"/>
              </a:rPr>
              <a:t>Livrable Semaine 1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7275" y="6010275"/>
            <a:ext cx="73247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F8FAFC"/>
                </a:solidFill>
                <a:latin typeface="Plus Jakarta Sans"/>
              </a:rPr>
              <a:t>Cadrage business, profilage de données, questions analytiques, tableau KPI et wireframe.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57200"/>
            <a:ext cx="706040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01. CONTEXTE STRATEGIQUE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66750"/>
            <a:ext cx="7413426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Problématique &amp; Rôle du Data Analyst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925" y="3186112"/>
            <a:ext cx="4800600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Banque 100% digitale au Nigéria (devise NGN) cherchant à exploiter ses données clients et transactions pour optimiser l'engagement, sécuriser les opérations et réduire les échecs réseau.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2725" y="3186112"/>
            <a:ext cx="4800600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Transformer la masse de données brutes en intelligence décisionnelle exploitable via du profilage, des tableaux de définition KPI et la conception d'un dashboard interactif Power BI.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2724150"/>
            <a:ext cx="331291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Enjeux FinTrust Digital Bank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8025" y="2724150"/>
            <a:ext cx="287535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Mission du Data Analyst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619750"/>
            <a:ext cx="10972800" cy="781050"/>
          </a:xfrm>
          <a:prstGeom prst="roundRect">
            <a:avLst>
              <a:gd name="adj" fmla="val 14634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433637"/>
            <a:ext cx="3505200" cy="1800225"/>
          </a:xfrm>
          <a:prstGeom prst="roundRect">
            <a:avLst>
              <a:gd name="adj" fmla="val 84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43400" y="2543175"/>
            <a:ext cx="3505200" cy="1581150"/>
          </a:xfrm>
          <a:prstGeom prst="roundRect">
            <a:avLst>
              <a:gd name="adj" fmla="val 963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77200" y="2543175"/>
            <a:ext cx="3505200" cy="1581150"/>
          </a:xfrm>
          <a:prstGeom prst="roundRect">
            <a:avLst>
              <a:gd name="adj" fmla="val 963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5619750"/>
            <a:ext cx="38100" cy="7810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85825" y="2709862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619625" y="28194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353425" y="28194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02. BUSINESS UNDERSTANDING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667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Questions Clés de la Direction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5810250"/>
            <a:ext cx="105727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Impact Stratégique :</a:t>
            </a:r>
            <a:r>
              <a:rPr sz="1200" b="0" i="0" u="none">
                <a:solidFill>
                  <a:srgbClr val="334155"/>
                </a:solidFill>
                <a:latin typeface="Plus Jakarta Sans"/>
              </a:rPr>
              <a:t> Ces réponses guident la réallocation des ressources informatiques, l'ajustement des contrôles de risques et le ciblage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2709862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3167062"/>
            <a:ext cx="387548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Adoption &amp; Segments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825" y="3519487"/>
            <a:ext cx="304800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Plus Jakarta Sans"/>
              </a:rPr>
              <a:t>Profils clients selon l'âge et les revenus.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28194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9625" y="3276600"/>
            <a:ext cx="387548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Performance Canaux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9625" y="3629025"/>
            <a:ext cx="369093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Plus Jakarta Sans"/>
              </a:rPr>
              <a:t>Volumes financiers par canal digital.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0550" y="28194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3425" y="3276600"/>
            <a:ext cx="383857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Risques &amp; Incidents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3425" y="3629025"/>
            <a:ext cx="369093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Plus Jakarta Sans"/>
              </a:rPr>
              <a:t>Taux d'échec et alertes de révision.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419350"/>
            <a:ext cx="2600325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2419350"/>
            <a:ext cx="2600325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2419350"/>
            <a:ext cx="2600325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2419350"/>
            <a:ext cx="2600325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838700"/>
            <a:ext cx="5391150" cy="156210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91250" y="4838700"/>
            <a:ext cx="5391150" cy="156210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03. DATA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667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Profilage Données Clients (Customer Dataset)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590" y="2619375"/>
            <a:ext cx="2750343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700" b="1" i="0" u="none">
                <a:solidFill>
                  <a:srgbClr val="0284C7"/>
                </a:solidFill>
                <a:latin typeface="Plus Jakarta Sans"/>
              </a:rPr>
              <a:t>1 500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590" y="3086100"/>
            <a:ext cx="275034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64748B"/>
                </a:solidFill>
                <a:latin typeface="Plus Jakarta Sans"/>
              </a:rPr>
              <a:t>Clients Total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5415" y="2619375"/>
            <a:ext cx="2750343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700" b="1" i="0" u="none">
                <a:solidFill>
                  <a:srgbClr val="0F172A"/>
                </a:solidFill>
                <a:latin typeface="Plus Jakarta Sans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5415" y="3086100"/>
            <a:ext cx="275034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64748B"/>
                </a:solidFill>
                <a:latin typeface="Plus Jakarta Sans"/>
              </a:rPr>
              <a:t>Colonnes / Attributs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6240" y="2619375"/>
            <a:ext cx="2750343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700" b="1" i="0" u="none">
                <a:solidFill>
                  <a:srgbClr val="0F172A"/>
                </a:solidFill>
                <a:latin typeface="Plus Jakarta Sans"/>
              </a:rPr>
              <a:t>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6240" y="3086100"/>
            <a:ext cx="275034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64748B"/>
                </a:solidFill>
                <a:latin typeface="Plus Jakarta Sans"/>
              </a:rPr>
              <a:t>Valeurs Manquantes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7065" y="2619375"/>
            <a:ext cx="2750343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700" b="1" i="0" u="none">
                <a:solidFill>
                  <a:srgbClr val="0284C7"/>
                </a:solidFill>
                <a:latin typeface="Plus Jakarta Sans"/>
              </a:rPr>
              <a:t>67.95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7065" y="3086100"/>
            <a:ext cx="275034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64748B"/>
                </a:solidFill>
                <a:latin typeface="Plus Jakarta Sans"/>
              </a:rPr>
              <a:t>Score Engagement Moy.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5076825"/>
            <a:ext cx="645080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Variables Clés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9375" y="5076825"/>
            <a:ext cx="576262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Catégories Principales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5410200"/>
            <a:ext cx="61436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284C7"/>
                </a:solidFill>
                <a:latin typeface="Plus Jakarta Sans"/>
              </a:rPr>
              <a:t>Âge :</a:t>
            </a:r>
            <a:r>
              <a:rPr sz="1200" b="0" i="0" u="none">
                <a:solidFill>
                  <a:srgbClr val="334155"/>
                </a:solidFill>
                <a:latin typeface="Plus Jakarta Sans"/>
              </a:rPr>
              <a:t> 18 à 65 ans (Moyenne : 41.6 ans)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5686425"/>
            <a:ext cx="61436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284C7"/>
                </a:solidFill>
                <a:latin typeface="Plus Jakarta Sans"/>
              </a:rPr>
              <a:t>Ancienneté :</a:t>
            </a:r>
            <a:r>
              <a:rPr sz="1200" b="0" i="0" u="none">
                <a:solidFill>
                  <a:srgbClr val="334155"/>
                </a:solidFill>
                <a:latin typeface="Plus Jakarta Sans"/>
              </a:rPr>
              <a:t> 1 à 96 mois (Moyenne : 49.9 mois)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5962650"/>
            <a:ext cx="61436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284C7"/>
                </a:solidFill>
                <a:latin typeface="Plus Jakarta Sans"/>
              </a:rPr>
              <a:t>Clé Primaire :</a:t>
            </a:r>
            <a:r>
              <a:rPr sz="1200" b="0" i="0" u="none">
                <a:solidFill>
                  <a:srgbClr val="334155"/>
                </a:solidFill>
                <a:latin typeface="Plus Jakarta Sans"/>
              </a:rPr>
              <a:t> Customer_ID (FT-C00001)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9375" y="5410200"/>
            <a:ext cx="57626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284C7"/>
                </a:solidFill>
                <a:latin typeface="Plus Jakarta Sans"/>
              </a:rPr>
              <a:t>Segments :</a:t>
            </a:r>
            <a:r>
              <a:rPr sz="1200" b="0" i="0" u="none">
                <a:solidFill>
                  <a:srgbClr val="334155"/>
                </a:solidFill>
                <a:latin typeface="Plus Jakarta Sans"/>
              </a:rPr>
              <a:t> Premium, Everyday, SME, 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9375" y="5686425"/>
            <a:ext cx="57626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284C7"/>
                </a:solidFill>
                <a:latin typeface="Plus Jakarta Sans"/>
              </a:rPr>
              <a:t>Comptes :</a:t>
            </a:r>
            <a:r>
              <a:rPr sz="1200" b="0" i="0" u="none">
                <a:solidFill>
                  <a:srgbClr val="334155"/>
                </a:solidFill>
                <a:latin typeface="Plus Jakarta Sans"/>
              </a:rPr>
              <a:t> Savings, Current, Premium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9375" y="5962650"/>
            <a:ext cx="57626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284C7"/>
                </a:solidFill>
                <a:latin typeface="Plus Jakarta Sans"/>
              </a:rPr>
              <a:t>Canaux Préférés :</a:t>
            </a:r>
            <a:r>
              <a:rPr sz="1200" b="0" i="0" u="none">
                <a:solidFill>
                  <a:srgbClr val="334155"/>
                </a:solidFill>
                <a:latin typeface="Plus Jakarta Sans"/>
              </a:rPr>
              <a:t> Mobile App, USSD, Web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191125"/>
            <a:ext cx="10972800" cy="1209675"/>
          </a:xfrm>
          <a:prstGeom prst="roundRect">
            <a:avLst>
              <a:gd name="adj" fmla="val 944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619375"/>
            <a:ext cx="2600325" cy="1000125"/>
          </a:xfrm>
          <a:prstGeom prst="roundRect">
            <a:avLst>
              <a:gd name="adj" fmla="val 1142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00425" y="2619375"/>
            <a:ext cx="2600325" cy="1000125"/>
          </a:xfrm>
          <a:prstGeom prst="roundRect">
            <a:avLst>
              <a:gd name="adj" fmla="val 1142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91250" y="2619375"/>
            <a:ext cx="2600325" cy="1000125"/>
          </a:xfrm>
          <a:prstGeom prst="roundRect">
            <a:avLst>
              <a:gd name="adj" fmla="val 1142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982075" y="2619375"/>
            <a:ext cx="2600325" cy="1000125"/>
          </a:xfrm>
          <a:prstGeom prst="roundRect">
            <a:avLst>
              <a:gd name="adj" fmla="val 1142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095750" y="5762625"/>
            <a:ext cx="1120378" cy="219075"/>
          </a:xfrm>
          <a:prstGeom prst="roundRect">
            <a:avLst>
              <a:gd name="adj" fmla="val 17391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47725" y="5962650"/>
            <a:ext cx="845939" cy="219075"/>
          </a:xfrm>
          <a:prstGeom prst="roundRect">
            <a:avLst>
              <a:gd name="adj" fmla="val 17391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572625" y="5762625"/>
            <a:ext cx="1120378" cy="219075"/>
          </a:xfrm>
          <a:prstGeom prst="roundRect">
            <a:avLst>
              <a:gd name="adj" fmla="val 17391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04. DATA PROFILING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667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Profilage des Transactions (Transaction Dataset)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5429250"/>
            <a:ext cx="113442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Observations sur la Qualité des Données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590" y="2819400"/>
            <a:ext cx="2750343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0F172A"/>
                </a:solidFill>
                <a:latin typeface="Plus Jakarta Sans"/>
              </a:rPr>
              <a:t>12 000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590" y="3238500"/>
            <a:ext cx="275034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64748B"/>
                </a:solidFill>
                <a:latin typeface="Plus Jakarta Sans"/>
              </a:rPr>
              <a:t>Enregistrements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5415" y="2819400"/>
            <a:ext cx="2750343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0284C7"/>
                </a:solidFill>
                <a:latin typeface="Plus Jakarta Sans"/>
              </a:rPr>
              <a:t>560.48M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5415" y="3238500"/>
            <a:ext cx="275034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64748B"/>
                </a:solidFill>
                <a:latin typeface="Plus Jakarta Sans"/>
              </a:rPr>
              <a:t>Volume Total (NGN)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16240" y="2819400"/>
            <a:ext cx="2750343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0284C7"/>
                </a:solidFill>
                <a:latin typeface="Plus Jakarta Sans"/>
              </a:rPr>
              <a:t>46 706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6240" y="3238500"/>
            <a:ext cx="275034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64748B"/>
                </a:solidFill>
                <a:latin typeface="Plus Jakarta Sans"/>
              </a:rPr>
              <a:t>Montant Moyen (NGN)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7065" y="2819400"/>
            <a:ext cx="2750343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EF4444"/>
                </a:solidFill>
                <a:latin typeface="Plus Jakarta Sans"/>
              </a:rPr>
              <a:t>19.6 %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7065" y="3238500"/>
            <a:ext cx="275034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64748B"/>
                </a:solidFill>
                <a:latin typeface="Plus Jakarta Sans"/>
              </a:rPr>
              <a:t>Taux Révision Risque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5762625"/>
            <a:ext cx="52292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D97706"/>
                </a:solidFill>
                <a:latin typeface="Plus Jakarta Sans"/>
              </a:rPr>
              <a:t>Valeurs Manquantes :</a:t>
            </a:r>
            <a:r>
              <a:rPr sz="1200" b="0" i="0" u="none">
                <a:solidFill>
                  <a:srgbClr val="334155"/>
                </a:solidFill>
                <a:latin typeface="Plus Jakarta Sans"/>
              </a:rPr>
              <a:t> 96 lignes (~0.8%) sans ni (cas simulés de non-remontée système).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0300" y="5762625"/>
            <a:ext cx="52292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Intégrité Référentielle :</a:t>
            </a:r>
            <a:r>
              <a:rPr sz="1200" b="0" i="0" u="none">
                <a:solidFill>
                  <a:srgbClr val="334155"/>
                </a:solidFill>
                <a:latin typeface="Plus Jakarta Sans"/>
              </a:rPr>
              <a:t> 100% des identifiants correspondent parfaitement à la table clients.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2900" y="5781675"/>
            <a:ext cx="1291828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monospace"/>
              </a:rPr>
              <a:t>Device_Type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" y="5981700"/>
            <a:ext cx="1017389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monospace"/>
              </a:rPr>
              <a:t>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9775" y="5781675"/>
            <a:ext cx="1291828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monospace"/>
              </a:rPr>
              <a:t>Customer_ID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895975"/>
            <a:ext cx="10972800" cy="504825"/>
          </a:xfrm>
          <a:prstGeom prst="roundRect">
            <a:avLst>
              <a:gd name="adj" fmla="val 18867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062162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052762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043362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2366962"/>
            <a:ext cx="28575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" y="3357562"/>
            <a:ext cx="17145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" y="4348162"/>
            <a:ext cx="228600" cy="228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05. FORMULATION ANALYTIQUE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667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Questions Analytiques Retenues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238125" y="6048375"/>
            <a:ext cx="12668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Plus Jakarta Sans"/>
              </a:rPr>
              <a:t>Ces questions couvrent 100% des axes prioritaires fixés par le management de FinTrust.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3975" y="2262187"/>
            <a:ext cx="680085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1. Corrélation Âge vs Engagement 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3975" y="2500312"/>
            <a:ext cx="6477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L'adoption du canal mobile faiblit-elle chez les tranches d'âge élevées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9675" y="3252787"/>
            <a:ext cx="68883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2. Fiabilité des Canaux (Mobile, Web, ATM, POS, USSD)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9675" y="3490912"/>
            <a:ext cx="656034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Quel canal présente le plus fort taux d'échec ou d'annulation (Reversed)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6825" y="4243387"/>
            <a:ext cx="736342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3. Typologie des Transactions à Risque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6825" y="4481512"/>
            <a:ext cx="7012781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Quelles localisations ou types de transferts concentrent les balises de risque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609600" y="2857500"/>
          <a:ext cx="10972798" cy="3352800"/>
        </p:xfrm>
        <a:graphic>
          <a:graphicData uri="http://schemas.openxmlformats.org/drawingml/2006/table">
            <a:tbl>
              <a:tblPr/>
              <a:tblGrid>
                <a:gridCol w="2036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7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36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46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Nom du KPI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Définition / Formule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Importance Business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Données Requises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B19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Volume Total (NGN)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Somme(Amount_NGN)</a:t>
                      </a:r>
                      <a:r>
                        <a:t>
</a:t>
                      </a:r>
                      <a:r>
                        <a:rPr sz="1200" b="0" i="1" u="none">
                          <a:solidFill>
                            <a:srgbClr val="334155"/>
                          </a:solidFill>
                          <a:latin typeface="Plus Jakarta Sans"/>
                        </a:rPr>
                        <a:t>(~560.48M NGN)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Santé financière globale et flux monétaire.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Amount_NGN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Nb Transactions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Count(Transaction_ID)</a:t>
                      </a:r>
                      <a:r>
                        <a:t>
</a:t>
                      </a:r>
                      <a:r>
                        <a:rPr sz="1200" b="0" i="1" u="none">
                          <a:solidFill>
                            <a:srgbClr val="334155"/>
                          </a:solidFill>
                          <a:latin typeface="Plus Jakarta Sans"/>
                        </a:rPr>
                        <a:t>(12 000 tx)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Intensité d'utilisation des services.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Transaction_ID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Panier Moyen (NGN)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Volume / Nombre Tx</a:t>
                      </a:r>
                      <a:r>
                        <a:t>
</a:t>
                      </a:r>
                      <a:r>
                        <a:rPr sz="1200" b="0" i="1" u="none">
                          <a:solidFill>
                            <a:srgbClr val="334155"/>
                          </a:solidFill>
                          <a:latin typeface="Plus Jakarta Sans"/>
                        </a:rPr>
                        <a:t>(46 706 NGN)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Ajustement des plafonds et frais.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Amount_NGN, Transaction_ID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Taux de Réussite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Tx Successful / Total Tx</a:t>
                      </a:r>
                      <a:r>
                        <a:t>
</a:t>
                      </a:r>
                      <a:r>
                        <a:rPr sz="1200" b="0" i="1" u="none">
                          <a:solidFill>
                            <a:srgbClr val="334155"/>
                          </a:solidFill>
                          <a:latin typeface="Plus Jakarta Sans"/>
                        </a:rPr>
                        <a:t>(90.47 %)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KPI opérationnel de qualité de service.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Transaction_Status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06. PLANIFICATION KPI (PARTIE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667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Indicateurs Financiers &amp; Volumes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562350"/>
            <a:ext cx="10972800" cy="264795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600" y="3562350"/>
          <a:ext cx="10972798" cy="2647950"/>
        </p:xfrm>
        <a:graphic>
          <a:graphicData uri="http://schemas.openxmlformats.org/drawingml/2006/table">
            <a:tbl>
              <a:tblPr/>
              <a:tblGrid>
                <a:gridCol w="2106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30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4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4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198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Nom du KPI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Définition / Formule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Importance Business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Données Requises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B19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98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EF4444"/>
                          </a:solidFill>
                          <a:latin typeface="Plus Jakarta Sans"/>
                        </a:rPr>
                        <a:t>Taux d'Échec (%)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Tx Failed / Total Tx</a:t>
                      </a:r>
                      <a:r>
                        <a:t>
</a:t>
                      </a:r>
                      <a:r>
                        <a:rPr sz="1200" b="0" i="1" u="none">
                          <a:solidFill>
                            <a:srgbClr val="334155"/>
                          </a:solidFill>
                          <a:latin typeface="Plus Jakarta Sans"/>
                        </a:rPr>
                        <a:t>(5.25 %)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Détection des pannes d'infrastructure.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Transaction_Status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198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D97706"/>
                          </a:solidFill>
                          <a:latin typeface="Plus Jakarta Sans"/>
                        </a:rPr>
                        <a:t>Taux Révision Risque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Risk_Flag='Yes' / Total Tx</a:t>
                      </a:r>
                      <a:r>
                        <a:t>
</a:t>
                      </a:r>
                      <a:r>
                        <a:rPr sz="1200" b="0" i="1" u="none">
                          <a:solidFill>
                            <a:srgbClr val="334155"/>
                          </a:solidFill>
                          <a:latin typeface="Plus Jakarta Sans"/>
                        </a:rPr>
                        <a:t>(19.60 %)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Surveillance des transactions suspectes.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Risk_Review_Flag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1989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Score Engagement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Moyenne(Digital_Score)</a:t>
                      </a:r>
                      <a:r>
                        <a:t>
</a:t>
                      </a:r>
                      <a:r>
                        <a:rPr sz="1200" b="0" i="1" u="none">
                          <a:solidFill>
                            <a:srgbClr val="334155"/>
                          </a:solidFill>
                          <a:latin typeface="Plus Jakarta Sans"/>
                        </a:rPr>
                        <a:t>(67.95 / 100)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Maturité numérique de la clientèle.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Digital_Engagement_Score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07. PLANIFICATION KPI (PARTIE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Indicateurs Risques &amp; Opérations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915025"/>
            <a:ext cx="10972800" cy="485775"/>
          </a:xfrm>
          <a:prstGeom prst="roundRect">
            <a:avLst>
              <a:gd name="adj" fmla="val 15686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676525"/>
            <a:ext cx="3530649" cy="1609725"/>
          </a:xfrm>
          <a:prstGeom prst="roundRect">
            <a:avLst>
              <a:gd name="adj" fmla="val 71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30749" y="2676525"/>
            <a:ext cx="3530649" cy="1609725"/>
          </a:xfrm>
          <a:prstGeom prst="roundRect">
            <a:avLst>
              <a:gd name="adj" fmla="val 71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51899" y="2676525"/>
            <a:ext cx="3530649" cy="1609725"/>
          </a:xfrm>
          <a:prstGeom prst="roundRect">
            <a:avLst>
              <a:gd name="adj" fmla="val 71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7725" y="2914650"/>
            <a:ext cx="657225" cy="28575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68874" y="2914650"/>
            <a:ext cx="676275" cy="28575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90024" y="2914650"/>
            <a:ext cx="685800" cy="28575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08. DASHBOARD WIREFRAME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667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Structure du Dashboard Power BI (3 Pages)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285750" y="6067425"/>
            <a:ext cx="127635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F172A"/>
                </a:solidFill>
                <a:latin typeface="Plus Jakarta Sans"/>
              </a:rPr>
              <a:t>Filtres Globaux :</a:t>
            </a:r>
            <a:r>
              <a:rPr sz="1125" b="0" i="0" u="none">
                <a:solidFill>
                  <a:srgbClr val="64748B"/>
                </a:solidFill>
                <a:latin typeface="Plus Jakarta Sans"/>
              </a:rPr>
              <a:t> Période, Ville, Segment Client et Canal de Transaction.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2971800"/>
            <a:ext cx="52387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Plus Jakarta Sans"/>
              </a:rPr>
              <a:t>PAGE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3314700"/>
            <a:ext cx="400889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Vue Exécutive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725" y="3648075"/>
            <a:ext cx="314964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Plus Jakarta Sans"/>
              </a:rPr>
              <a:t>Volume NGN, panier moyen et répartition par segment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3174" y="2971800"/>
            <a:ext cx="54292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Plus Jakarta Sans"/>
              </a:rPr>
              <a:t>PAGE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8874" y="3314700"/>
            <a:ext cx="400889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Opérations Canaux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8874" y="3648075"/>
            <a:ext cx="314964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Plus Jakarta Sans"/>
              </a:rPr>
              <a:t>Taux d'échec par canal et matériel utilisé (App, Web, ATM, POS).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4324" y="2971800"/>
            <a:ext cx="5524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Plus Jakarta Sans"/>
              </a:rPr>
              <a:t>PAGE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024" y="3314700"/>
            <a:ext cx="39019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Risk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0024" y="3648075"/>
            <a:ext cx="314964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Plus Jakarta Sans"/>
              </a:rPr>
              <a:t>Analyse géographique des alertes et transactions internationales.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915025"/>
            <a:ext cx="10972800" cy="485775"/>
          </a:xfrm>
          <a:prstGeom prst="roundRect">
            <a:avLst>
              <a:gd name="adj" fmla="val 19607"/>
            </a:avLst>
          </a:prstGeom>
          <a:solidFill>
            <a:srgbClr val="0B19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686050"/>
            <a:ext cx="3530649" cy="1590675"/>
          </a:xfrm>
          <a:prstGeom prst="roundRect">
            <a:avLst>
              <a:gd name="adj" fmla="val 958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30749" y="2686050"/>
            <a:ext cx="3530649" cy="1590675"/>
          </a:xfrm>
          <a:prstGeom prst="roundRect">
            <a:avLst>
              <a:gd name="adj" fmla="val 958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51899" y="2686050"/>
            <a:ext cx="3530649" cy="1590675"/>
          </a:xfrm>
          <a:prstGeom prst="roundRect">
            <a:avLst>
              <a:gd name="adj" fmla="val 958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09. PLAN D'ACTION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667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Feuille de Route analytique (Semaines 2 à 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6067425"/>
            <a:ext cx="2297906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8BDF8"/>
                </a:solidFill>
                <a:latin typeface="Plus Jakarta Sans"/>
              </a:rPr>
              <a:t>Collaboration Inter-Track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067425"/>
            <a:ext cx="67056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F8FAFC"/>
                </a:solidFill>
                <a:latin typeface="Plus Jakarta Sans"/>
              </a:rPr>
              <a:t>Début des échanges de données structurées avec Data Science &amp; ML à partir de la S2.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2962275"/>
            <a:ext cx="3722749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SEMAINE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3248025"/>
            <a:ext cx="390888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Modélisation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825" y="3600450"/>
            <a:ext cx="307344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Plus Jakarta Sans"/>
              </a:rPr>
              <a:t>Nettoyage des 96 manquants et création du schéma en étoile (Star Schema).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6974" y="2962275"/>
            <a:ext cx="3722749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SEMAINE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6974" y="3248025"/>
            <a:ext cx="390888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DAX &amp; Visualisation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6974" y="3600450"/>
            <a:ext cx="307344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Plus Jakarta Sans"/>
              </a:rPr>
              <a:t>Création des mesures complexes DAX et développement du dashboard Power BI.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8124" y="2962275"/>
            <a:ext cx="3722749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SEMAINE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8124" y="3248025"/>
            <a:ext cx="386387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Restitution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8124" y="3600450"/>
            <a:ext cx="307344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Plus Jakarta Sans"/>
              </a:rPr>
              <a:t>Extraction des recommandations stratégiques et rapport final.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895975"/>
            <a:ext cx="10972800" cy="504825"/>
          </a:xfrm>
          <a:prstGeom prst="roundRect">
            <a:avLst>
              <a:gd name="adj" fmla="val 18867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614612"/>
            <a:ext cx="5372100" cy="1714500"/>
          </a:xfrm>
          <a:prstGeom prst="roundRect">
            <a:avLst>
              <a:gd name="adj" fmla="val 888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2614612"/>
            <a:ext cx="5372100" cy="1714500"/>
          </a:xfrm>
          <a:prstGeom prst="roundRect">
            <a:avLst>
              <a:gd name="adj" fmla="val 888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2914650"/>
            <a:ext cx="190500" cy="19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525" y="2914650"/>
            <a:ext cx="190500" cy="190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10. RECOMMANDATIONS INITIALES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667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Priorités d'Action pour FinTrust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238125" y="6048375"/>
            <a:ext cx="12668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Plus Jakarta Sans"/>
              </a:rPr>
              <a:t>Toutes les livrables S1 sont validés et conformes aux exigences d'AnalystLab Africa.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3281362"/>
            <a:ext cx="49149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Investir en priorité sur la stabilité du canal Mobile App et POS pour faire baisser le taux d'échec sous les 3%.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6525" y="3281362"/>
            <a:ext cx="491490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Calibrer les règles d'alerte pour filtrer efficacement les 19.6% de révisions sans impacter l'expérience des clients légitimes.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0625" y="2890837"/>
            <a:ext cx="2962870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Infrastructures &amp; Réseau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1325" y="2890837"/>
            <a:ext cx="2425303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Gestion des Risques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810250" y="3724275"/>
            <a:ext cx="571500" cy="381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105275" y="4105275"/>
            <a:ext cx="3981450" cy="1409700"/>
          </a:xfrm>
          <a:prstGeom prst="roundRect">
            <a:avLst>
              <a:gd name="adj" fmla="val 1081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062" y="1343025"/>
            <a:ext cx="3863875" cy="762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212" y="5081587"/>
            <a:ext cx="171450" cy="17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70496" y="2333625"/>
            <a:ext cx="8051006" cy="581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FFFFFF"/>
                </a:solidFill>
                <a:latin typeface="Plus Jakarta Sans"/>
              </a:rPr>
              <a:t>Merci pour votre attention 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83593" y="3143250"/>
            <a:ext cx="8024812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94A3B8"/>
                </a:solidFill>
                <a:latin typeface="Plus Jakarta Sans"/>
              </a:rPr>
              <a:t>FinTrust Digital Bank — Solution de Business Intelligence &amp; Data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5737" y="4343400"/>
            <a:ext cx="420052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FFFFFF"/>
                </a:solidFill>
                <a:latin typeface="Plus Jakarta Sans"/>
              </a:rPr>
              <a:t>Mouhamadou Andalla Mbaye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921" y="4705350"/>
            <a:ext cx="353615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38BDF8"/>
                </a:solidFill>
                <a:latin typeface="Plus Jakarta Sans"/>
              </a:rPr>
              <a:t>Intern Data Analyst — AnalystLab Africa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1303" y="5057775"/>
            <a:ext cx="303609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F1F5F9"/>
                </a:solidFill>
                <a:latin typeface="Plus Jakarta Sans"/>
              </a:rPr>
              <a:t>m.andalla.mbaye@gmail.com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926</Words>
  <Application>Microsoft Office PowerPoint</Application>
  <PresentationFormat>Grand écran</PresentationFormat>
  <Paragraphs>149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Calibri</vt:lpstr>
      <vt:lpstr>Plus Jakarta Sans</vt:lpstr>
      <vt:lpstr>monospace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Mouhamadou Andalla Mbaye</cp:lastModifiedBy>
  <cp:revision>2</cp:revision>
  <dcterms:created xsi:type="dcterms:W3CDTF">2013-01-27T09:14:16Z</dcterms:created>
  <dcterms:modified xsi:type="dcterms:W3CDTF">2026-09-19T17:04:32Z</dcterms:modified>
  <cp:category/>
</cp:coreProperties>
</file>