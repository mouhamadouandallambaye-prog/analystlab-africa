
<file path=[Content_Types].xml><?xml version="1.0" encoding="utf-8"?>
<Types xmlns="http://schemas.openxmlformats.org/package/2006/content-types">
  <Default Extension="com&amp;_nc_gid=YX-rQk9wJyXjFj480puxsA&amp;_nc_ss=7ba8c&amp;oh=00_AQKrDpoG_dekJ8vns7tUpdcdlh7GZ3vV0QbPJ-u3idsynA&amp;oe=6AB4AA29" ContentType="image/jpeg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Plus Jakarta Sans"/>
      <p:bold r:id="rId14"/>
      <p:italic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86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com&amp;_nc_gid=YX-rQk9wJyXjFj480puxsA&amp;_nc_ss=7ba8c&amp;oh=00_AQKrDpoG_dekJ8vns7tUpdcdlh7GZ3vV0QbPJ-u3idsynA&amp;oe=6AB4AA29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com&amp;_nc_gid=YX-rQk9wJyXjFj480puxsA&amp;_nc_ss=7ba8c&amp;oh=00_AQKrDpoG_dekJ8vns7tUpdcdlh7GZ3vV0QbPJ-u3idsynA&amp;oe=6AB4AA29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495776"/>
            <a:ext cx="10972800" cy="9048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439275" y="571500"/>
            <a:ext cx="2143125" cy="304800"/>
          </a:xfrm>
          <a:prstGeom prst="roundRect">
            <a:avLst>
              <a:gd name="adj" fmla="val 50000"/>
            </a:avLst>
          </a:prstGeom>
          <a:solidFill>
            <a:srgbClr val="12324B"/>
          </a:solidFill>
          <a:ln w="9525">
            <a:solidFill>
              <a:srgbClr val="194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5495776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848725" y="5991076"/>
            <a:ext cx="2733675" cy="409575"/>
          </a:xfrm>
          <a:prstGeom prst="roundRect">
            <a:avLst>
              <a:gd name="adj" fmla="val 1860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9225" y="6119663"/>
            <a:ext cx="152400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591675" y="628650"/>
            <a:ext cx="19335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Semaine 1 — FinTrust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481262"/>
            <a:ext cx="107156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Plus Jakarta Sans"/>
              </a:rPr>
              <a:t>TRACK DATA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833687"/>
            <a:ext cx="11251406" cy="5695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FFFFF"/>
                </a:solidFill>
                <a:latin typeface="Plus Jakarta Sans"/>
              </a:rPr>
              <a:t>FinTrust Digital Bank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555652"/>
            <a:ext cx="9101137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94A3B8"/>
                </a:solidFill>
                <a:latin typeface="Plus Jakarta Sans"/>
              </a:rPr>
              <a:t>Évaluation d'Intelligence Business, Profilage des Données &amp; Cadrage Analytique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4959" y="623887"/>
            <a:ext cx="41671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Plus Jakarta Sans"/>
              </a:rPr>
              <a:t>ANALYSTLAB AFRICA — EXPERIENCELAB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733901"/>
            <a:ext cx="336946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Auteur du rapport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5943451"/>
            <a:ext cx="336946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Plus Jakarta Sans"/>
              </a:rPr>
              <a:t>Mouhamadou Andalla Mbaye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219676"/>
            <a:ext cx="336946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8BDF8"/>
                </a:solidFill>
                <a:latin typeface="Plus Jakarta Sans"/>
              </a:rPr>
              <a:t>Stagiaire Data Analyst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6875" y="6105376"/>
            <a:ext cx="263128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1F5F9"/>
                </a:solidFill>
                <a:latin typeface="Plus Jakarta Sans"/>
              </a:rPr>
              <a:t>m.andalla.mbaye@gmail.com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819775"/>
            <a:ext cx="10972800" cy="581025"/>
          </a:xfrm>
          <a:prstGeom prst="roundRect">
            <a:avLst>
              <a:gd name="adj" fmla="val 19672"/>
            </a:avLst>
          </a:prstGeom>
          <a:solidFill>
            <a:srgbClr val="0B1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276350"/>
            <a:ext cx="5334000" cy="4314825"/>
          </a:xfrm>
          <a:prstGeom prst="roundRect">
            <a:avLst>
              <a:gd name="adj" fmla="val 353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8400" y="1276350"/>
            <a:ext cx="5334000" cy="4314825"/>
          </a:xfrm>
          <a:prstGeom prst="roundRect">
            <a:avLst>
              <a:gd name="adj" fmla="val 353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652712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725" y="2652712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175" y="2747962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7975" y="2747962"/>
            <a:ext cx="190500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6300" y="6010275"/>
            <a:ext cx="1785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Plus Jakarta Sans"/>
              </a:rPr>
              <a:t>Livrable Semaine 1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7275" y="6010275"/>
            <a:ext cx="73247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FAFC"/>
                </a:solidFill>
                <a:latin typeface="Plus Jakarta Sans"/>
              </a:rPr>
              <a:t>Cadrage business, profilage de données, questions analytiques, tableau KPI et wireframe.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70604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01. CONTEXTE STRATEGIQUE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66750"/>
            <a:ext cx="7413426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Problématique &amp; Rôle du Data Analyst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186112"/>
            <a:ext cx="48006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Banque 100% digitale au Nigéria (devise NGN) cherchant à exploiter ses données clients et transactions pour optimiser l'engagement, sécuriser les opérations et réduire les échecs réseau.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3186112"/>
            <a:ext cx="48006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Transformer la masse de données brutes en intelligence décisionnelle exploitable via du profilage, des tableaux de définition KPI et la conception d'un dashboard interactif Power BI.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9225" y="2724150"/>
            <a:ext cx="331291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Enjeux FinTrust Digital Bank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8025" y="2724150"/>
            <a:ext cx="287535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Mission du Data Analyst</a:t>
            </a:r>
          </a:p>
        </p:txBody>
      </p:sp>
      <p:pic>
        <p:nvPicPr>
          <p:cNvPr id="23" name="Image 22" descr="Photo de profil de analystlabafrica">
            <a:extLst>
              <a:ext uri="{FF2B5EF4-FFF2-40B4-BE49-F238E27FC236}">
                <a16:creationId xmlns:a16="http://schemas.microsoft.com/office/drawing/2014/main" id="{6DCAC895-E61E-F5D5-0E89-EF3AAC11A6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67651" y="31941"/>
            <a:ext cx="1024349" cy="10243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619750"/>
            <a:ext cx="10972800" cy="781050"/>
          </a:xfrm>
          <a:prstGeom prst="roundRect">
            <a:avLst>
              <a:gd name="adj" fmla="val 1463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433637"/>
            <a:ext cx="3505200" cy="1800225"/>
          </a:xfrm>
          <a:prstGeom prst="roundRect">
            <a:avLst>
              <a:gd name="adj" fmla="val 846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2543175"/>
            <a:ext cx="3505200" cy="1581150"/>
          </a:xfrm>
          <a:prstGeom prst="roundRect">
            <a:avLst>
              <a:gd name="adj" fmla="val 963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2543175"/>
            <a:ext cx="3505200" cy="1581150"/>
          </a:xfrm>
          <a:prstGeom prst="roundRect">
            <a:avLst>
              <a:gd name="adj" fmla="val 963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5619750"/>
            <a:ext cx="38100" cy="7810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85825" y="2709862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619625" y="281940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353425" y="281940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02. BUSINESS UNDERSTANDING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667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Questions Clés de la Direction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5810250"/>
            <a:ext cx="10572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Impact Stratégique 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Ces réponses guident la réallocation des ressources informatiques, l'ajustement des contrôles de risques et le ciblage marketing.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2709862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3167062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Adoption &amp; Segments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3519487"/>
            <a:ext cx="3048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Profils clients selon l'âge et les revenus.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6750" y="2819400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9625" y="3276600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Performance Canaux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9625" y="3629025"/>
            <a:ext cx="36909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Volumes financiers par canal digital.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0550" y="2819400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3425" y="3276600"/>
            <a:ext cx="38385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Risques &amp; Incidents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3425" y="3629025"/>
            <a:ext cx="36909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Taux d'échec et alertes de révision.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19350"/>
            <a:ext cx="2600325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2419350"/>
            <a:ext cx="2600325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419350"/>
            <a:ext cx="2600325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2419350"/>
            <a:ext cx="2600325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4838700"/>
            <a:ext cx="5391150" cy="156210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1250" y="4838700"/>
            <a:ext cx="5391150" cy="156210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03. DATA UNDERSTANDING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667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Profilage Données Clients (Customer Dataset)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590" y="2619375"/>
            <a:ext cx="2750343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700" b="1" i="0" u="none">
                <a:solidFill>
                  <a:srgbClr val="0284C7"/>
                </a:solidFill>
                <a:latin typeface="Plus Jakarta Sans"/>
              </a:rPr>
              <a:t>1 500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590" y="3086100"/>
            <a:ext cx="275034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64748B"/>
                </a:solidFill>
                <a:latin typeface="Plus Jakarta Sans"/>
              </a:rPr>
              <a:t>Clients Total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5415" y="2619375"/>
            <a:ext cx="2750343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700" b="1" i="0" u="none">
                <a:solidFill>
                  <a:srgbClr val="0F172A"/>
                </a:solidFill>
                <a:latin typeface="Plus Jakarta Sans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5415" y="3086100"/>
            <a:ext cx="275034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64748B"/>
                </a:solidFill>
                <a:latin typeface="Plus Jakarta Sans"/>
              </a:rPr>
              <a:t>Colonnes / Attributs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6240" y="2619375"/>
            <a:ext cx="2750343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700" b="1" i="0" u="none">
                <a:solidFill>
                  <a:srgbClr val="0F172A"/>
                </a:solidFill>
                <a:latin typeface="Plus Jakarta Sans"/>
              </a:rPr>
              <a:t>0 %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16240" y="3086100"/>
            <a:ext cx="275034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64748B"/>
                </a:solidFill>
                <a:latin typeface="Plus Jakarta Sans"/>
              </a:rPr>
              <a:t>Valeurs Manquantes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07065" y="2619375"/>
            <a:ext cx="2750343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700" b="1" i="0" u="none">
                <a:solidFill>
                  <a:srgbClr val="0284C7"/>
                </a:solidFill>
                <a:latin typeface="Plus Jakarta Sans"/>
              </a:rPr>
              <a:t>67.95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07065" y="3086100"/>
            <a:ext cx="275034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64748B"/>
                </a:solidFill>
                <a:latin typeface="Plus Jakarta Sans"/>
              </a:rPr>
              <a:t>Score Engagement Moy.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5076825"/>
            <a:ext cx="64508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Variables Clés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9375" y="5076825"/>
            <a:ext cx="57626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Catégories Principales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5410200"/>
            <a:ext cx="61436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Âge 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18 à 65 ans (Moyenne : 41.6 ans)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5686425"/>
            <a:ext cx="61436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Ancienneté 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1 à 96 mois (Moyenne : 49.9 mois)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5962650"/>
            <a:ext cx="61436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Clé Primaire 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Customer_ID (FT-C00001)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9375" y="5410200"/>
            <a:ext cx="57626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Segments 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Premium, Everyday, SME, Student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9375" y="5686425"/>
            <a:ext cx="57626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Comptes 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Savings, Current, Premium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9375" y="5962650"/>
            <a:ext cx="57626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Canaux Préférés 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Mobile App, USSD, Web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191125"/>
            <a:ext cx="10972800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619375"/>
            <a:ext cx="2600325" cy="1000125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00425" y="2619375"/>
            <a:ext cx="2600325" cy="1000125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2619375"/>
            <a:ext cx="2600325" cy="1000125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82075" y="2619375"/>
            <a:ext cx="2600325" cy="1000125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095750" y="5762625"/>
            <a:ext cx="1120378" cy="219075"/>
          </a:xfrm>
          <a:prstGeom prst="roundRect">
            <a:avLst>
              <a:gd name="adj" fmla="val 17391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47725" y="5962650"/>
            <a:ext cx="845939" cy="219075"/>
          </a:xfrm>
          <a:prstGeom prst="roundRect">
            <a:avLst>
              <a:gd name="adj" fmla="val 17391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572625" y="5762625"/>
            <a:ext cx="1120378" cy="219075"/>
          </a:xfrm>
          <a:prstGeom prst="roundRect">
            <a:avLst>
              <a:gd name="adj" fmla="val 17391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04. DATA PROFILING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667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Profilage des Transactions (Transaction Dataset)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5429250"/>
            <a:ext cx="113442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Observations sur la Qualité des Données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590" y="2819400"/>
            <a:ext cx="2750343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0F172A"/>
                </a:solidFill>
                <a:latin typeface="Plus Jakarta Sans"/>
              </a:rPr>
              <a:t>12 000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590" y="3238500"/>
            <a:ext cx="275034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64748B"/>
                </a:solidFill>
                <a:latin typeface="Plus Jakarta Sans"/>
              </a:rPr>
              <a:t>Enregistrements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5415" y="2819400"/>
            <a:ext cx="2750343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0284C7"/>
                </a:solidFill>
                <a:latin typeface="Plus Jakarta Sans"/>
              </a:rPr>
              <a:t>560.48M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25415" y="3238500"/>
            <a:ext cx="275034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64748B"/>
                </a:solidFill>
                <a:latin typeface="Plus Jakarta Sans"/>
              </a:rPr>
              <a:t>Volume Total (NGN)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16240" y="2819400"/>
            <a:ext cx="2750343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0284C7"/>
                </a:solidFill>
                <a:latin typeface="Plus Jakarta Sans"/>
              </a:rPr>
              <a:t>46 706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16240" y="3238500"/>
            <a:ext cx="275034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64748B"/>
                </a:solidFill>
                <a:latin typeface="Plus Jakarta Sans"/>
              </a:rPr>
              <a:t>Montant Moyen (NGN)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07065" y="2819400"/>
            <a:ext cx="2750343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EF4444"/>
                </a:solidFill>
                <a:latin typeface="Plus Jakarta Sans"/>
              </a:rPr>
              <a:t>19.6 %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07065" y="3238500"/>
            <a:ext cx="275034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64748B"/>
                </a:solidFill>
                <a:latin typeface="Plus Jakarta Sans"/>
              </a:rPr>
              <a:t>Taux Révision Risque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5762625"/>
            <a:ext cx="52292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D97706"/>
                </a:solidFill>
                <a:latin typeface="Plus Jakarta Sans"/>
              </a:rPr>
              <a:t>Valeurs Manquantes 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96 lignes (~0.8%) sans ni (cas simulés de non-remontée système).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0300" y="5762625"/>
            <a:ext cx="52292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Intégrité Référentielle 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100% des identifiants correspondent parfaitement à la table clients.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2900" y="5781675"/>
            <a:ext cx="129182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monospace"/>
              </a:rPr>
              <a:t>Device_Type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4875" y="5981700"/>
            <a:ext cx="101738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monospace"/>
              </a:rPr>
              <a:t>Location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29775" y="5781675"/>
            <a:ext cx="129182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monospace"/>
              </a:rPr>
              <a:t>Customer_ID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895975"/>
            <a:ext cx="10972800" cy="504825"/>
          </a:xfrm>
          <a:prstGeom prst="roundRect">
            <a:avLst>
              <a:gd name="adj" fmla="val 18867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062162"/>
            <a:ext cx="1097280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052762"/>
            <a:ext cx="1097280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043362"/>
            <a:ext cx="1097280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366962"/>
            <a:ext cx="28575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3357562"/>
            <a:ext cx="17145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4348162"/>
            <a:ext cx="228600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05. FORMULATION ANALYTIQUE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667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Questions Analytiques Retenues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238125" y="6048375"/>
            <a:ext cx="12668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Ces questions couvrent 100% des axes prioritaires fixés par le management de FinTrust.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3975" y="2262187"/>
            <a:ext cx="68008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1. Corrélation Âge vs Engagement Digital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3975" y="2500312"/>
            <a:ext cx="6477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L'adoption du canal mobile faiblit-elle chez les tranches d'âge élevées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9675" y="3252787"/>
            <a:ext cx="688836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2. Fiabilité des Canaux (Mobile, Web, ATM, POS, USSD)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9675" y="3490912"/>
            <a:ext cx="65603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Quel canal présente le plus fort taux d'échec ou d'annulation (Reversed)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6825" y="4243387"/>
            <a:ext cx="736342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3. Typologie des Transactions à Risque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6825" y="4481512"/>
            <a:ext cx="70127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Quelles localisations ou types de transferts concentrent les balises de risque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2857500"/>
          <a:ext cx="10972798" cy="3352800"/>
        </p:xfrm>
        <a:graphic>
          <a:graphicData uri="http://schemas.openxmlformats.org/drawingml/2006/table">
            <a:tbl>
              <a:tblPr/>
              <a:tblGrid>
                <a:gridCol w="20368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7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3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46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Nom du KPI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Définition / Formule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Importance Business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Données Requises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9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Volume Total (NGN)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Somme(Amount_NGN)</a:t>
                      </a:r>
                      <a:r>
                        <a:t>
</a:t>
                      </a:r>
                      <a:r>
                        <a:rPr sz="1200" b="0" i="1" u="none">
                          <a:solidFill>
                            <a:srgbClr val="334155"/>
                          </a:solidFill>
                          <a:latin typeface="Plus Jakarta Sans"/>
                        </a:rPr>
                        <a:t>(~560.48M NGN)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Santé financière globale et flux monétaire.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Amount_NGN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Nb Transactions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Count(Transaction_ID)</a:t>
                      </a:r>
                      <a:r>
                        <a:t>
</a:t>
                      </a:r>
                      <a:r>
                        <a:rPr sz="1200" b="0" i="1" u="none">
                          <a:solidFill>
                            <a:srgbClr val="334155"/>
                          </a:solidFill>
                          <a:latin typeface="Plus Jakarta Sans"/>
                        </a:rPr>
                        <a:t>(12 000 tx)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Intensité d'utilisation des services.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Transaction_ID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Panier Moyen (NGN)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Volume / Nombre Tx</a:t>
                      </a:r>
                      <a:r>
                        <a:t>
</a:t>
                      </a:r>
                      <a:r>
                        <a:rPr sz="1200" b="0" i="1" u="none">
                          <a:solidFill>
                            <a:srgbClr val="334155"/>
                          </a:solidFill>
                          <a:latin typeface="Plus Jakarta Sans"/>
                        </a:rPr>
                        <a:t>(46 706 NGN)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Ajustement des plafonds et frais.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Amount_NGN, Transaction_ID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Taux de Réussite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Tx Successful / Total Tx</a:t>
                      </a:r>
                      <a:r>
                        <a:t>
</a:t>
                      </a:r>
                      <a:r>
                        <a:rPr sz="1200" b="0" i="1" u="none">
                          <a:solidFill>
                            <a:srgbClr val="334155"/>
                          </a:solidFill>
                          <a:latin typeface="Plus Jakarta Sans"/>
                        </a:rPr>
                        <a:t>(90.47 %)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KPI opérationnel de qualité de service.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Transaction_Status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06. PLANIFICATION KPI (PARTIE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667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Indicateurs Financiers &amp; Volumes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562350"/>
            <a:ext cx="10972800" cy="26479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3562350"/>
          <a:ext cx="10972798" cy="2647950"/>
        </p:xfrm>
        <a:graphic>
          <a:graphicData uri="http://schemas.openxmlformats.org/drawingml/2006/table">
            <a:tbl>
              <a:tblPr/>
              <a:tblGrid>
                <a:gridCol w="2106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3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4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4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1987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Nom du KPI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Définition / Formule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Importance Business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Données Requises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9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1987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EF4444"/>
                          </a:solidFill>
                          <a:latin typeface="Plus Jakarta Sans"/>
                        </a:rPr>
                        <a:t>Taux d'Échec (%)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Tx Failed / Total Tx</a:t>
                      </a:r>
                      <a:r>
                        <a:t>
</a:t>
                      </a:r>
                      <a:r>
                        <a:rPr sz="1200" b="0" i="1" u="none">
                          <a:solidFill>
                            <a:srgbClr val="334155"/>
                          </a:solidFill>
                          <a:latin typeface="Plus Jakarta Sans"/>
                        </a:rPr>
                        <a:t>(5.25 %)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Détection des pannes d'infrastructure.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Transaction_Status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1987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D97706"/>
                          </a:solidFill>
                          <a:latin typeface="Plus Jakarta Sans"/>
                        </a:rPr>
                        <a:t>Taux Révision Risque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Risk_Flag='Yes' / Total Tx</a:t>
                      </a:r>
                      <a:r>
                        <a:t>
</a:t>
                      </a:r>
                      <a:r>
                        <a:rPr sz="1200" b="0" i="1" u="none">
                          <a:solidFill>
                            <a:srgbClr val="334155"/>
                          </a:solidFill>
                          <a:latin typeface="Plus Jakarta Sans"/>
                        </a:rPr>
                        <a:t>(19.60 %)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Surveillance des transactions suspectes.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Risk_Review_Flag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1989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Score Engagement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Moyenne(Digital_Score)</a:t>
                      </a:r>
                      <a:r>
                        <a:t>
</a:t>
                      </a:r>
                      <a:r>
                        <a:rPr sz="1200" b="0" i="1" u="none">
                          <a:solidFill>
                            <a:srgbClr val="334155"/>
                          </a:solidFill>
                          <a:latin typeface="Plus Jakarta Sans"/>
                        </a:rPr>
                        <a:t>(67.95 / 100)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Maturité numérique de la clientèle.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Digital_Engagement_Score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07. PLANIFICATION KPI (PARTIE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667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Indicateurs Risques &amp; Opérations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915025"/>
            <a:ext cx="10972800" cy="485775"/>
          </a:xfrm>
          <a:prstGeom prst="roundRect">
            <a:avLst>
              <a:gd name="adj" fmla="val 1568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676525"/>
            <a:ext cx="3530649" cy="1609725"/>
          </a:xfrm>
          <a:prstGeom prst="roundRect">
            <a:avLst>
              <a:gd name="adj" fmla="val 71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30749" y="2676525"/>
            <a:ext cx="3530649" cy="1609725"/>
          </a:xfrm>
          <a:prstGeom prst="roundRect">
            <a:avLst>
              <a:gd name="adj" fmla="val 71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51899" y="2676525"/>
            <a:ext cx="3530649" cy="1609725"/>
          </a:xfrm>
          <a:prstGeom prst="roundRect">
            <a:avLst>
              <a:gd name="adj" fmla="val 71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7725" y="2914650"/>
            <a:ext cx="657225" cy="285750"/>
          </a:xfrm>
          <a:prstGeom prst="roundRect">
            <a:avLst>
              <a:gd name="adj" fmla="val 2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68874" y="2914650"/>
            <a:ext cx="676275" cy="285750"/>
          </a:xfrm>
          <a:prstGeom prst="roundRect">
            <a:avLst>
              <a:gd name="adj" fmla="val 2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90024" y="2914650"/>
            <a:ext cx="685800" cy="285750"/>
          </a:xfrm>
          <a:prstGeom prst="roundRect">
            <a:avLst>
              <a:gd name="adj" fmla="val 2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08. DASHBOARD WIREFRAME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667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Structure du Dashboard Power BI (3 Pages)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285750" y="6067425"/>
            <a:ext cx="127635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Filtres Globaux :</a:t>
            </a:r>
            <a:r>
              <a:rPr sz="1125" b="0" i="0" u="none">
                <a:solidFill>
                  <a:srgbClr val="64748B"/>
                </a:solidFill>
                <a:latin typeface="Plus Jakarta Sans"/>
              </a:rPr>
              <a:t> Période, Ville, Segment Client et Canal de Transaction.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2971800"/>
            <a:ext cx="5238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PAGE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314700"/>
            <a:ext cx="40088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Vue Exécutive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648075"/>
            <a:ext cx="31496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Plus Jakarta Sans"/>
              </a:rPr>
              <a:t>Volume NGN, panier moyen et répartition par segment client.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3174" y="2971800"/>
            <a:ext cx="5429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PAGE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874" y="3314700"/>
            <a:ext cx="40088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Opérations Canaux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8874" y="3648075"/>
            <a:ext cx="31496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Plus Jakarta Sans"/>
              </a:rPr>
              <a:t>Taux d'échec par canal et matériel utilisé (App, Web, ATM, POS).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4324" y="2971800"/>
            <a:ext cx="5524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PAGE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024" y="3314700"/>
            <a:ext cx="39019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Risk 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0024" y="3648075"/>
            <a:ext cx="31496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Plus Jakarta Sans"/>
              </a:rPr>
              <a:t>Analyse géographique des alertes et transactions internationales.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915025"/>
            <a:ext cx="10972800" cy="485775"/>
          </a:xfrm>
          <a:prstGeom prst="roundRect">
            <a:avLst>
              <a:gd name="adj" fmla="val 19607"/>
            </a:avLst>
          </a:prstGeom>
          <a:solidFill>
            <a:srgbClr val="0B1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686050"/>
            <a:ext cx="3530649" cy="1590675"/>
          </a:xfrm>
          <a:prstGeom prst="roundRect">
            <a:avLst>
              <a:gd name="adj" fmla="val 958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30749" y="2686050"/>
            <a:ext cx="3530649" cy="1590675"/>
          </a:xfrm>
          <a:prstGeom prst="roundRect">
            <a:avLst>
              <a:gd name="adj" fmla="val 958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51899" y="2686050"/>
            <a:ext cx="3530649" cy="1590675"/>
          </a:xfrm>
          <a:prstGeom prst="roundRect">
            <a:avLst>
              <a:gd name="adj" fmla="val 958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09. PLAN D'ACTION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667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Feuille de Route analytique (Semaines 2 à 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6067425"/>
            <a:ext cx="229790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8BDF8"/>
                </a:solidFill>
                <a:latin typeface="Plus Jakarta Sans"/>
              </a:rPr>
              <a:t>Collaboration Inter-Track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067425"/>
            <a:ext cx="6705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8FAFC"/>
                </a:solidFill>
                <a:latin typeface="Plus Jakarta Sans"/>
              </a:rPr>
              <a:t>Début des échanges de données structurées avec Data Science &amp; ML à partir de la S2.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2962275"/>
            <a:ext cx="372274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SEMAINE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248025"/>
            <a:ext cx="390888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Modélisation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600450"/>
            <a:ext cx="30734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Plus Jakarta Sans"/>
              </a:rPr>
              <a:t>Nettoyage des 96 manquants et création du schéma en étoile (Star Schema).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6974" y="2962275"/>
            <a:ext cx="372274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SEMAINE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6974" y="3248025"/>
            <a:ext cx="390888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DAX &amp; Visualisation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6974" y="3600450"/>
            <a:ext cx="30734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Plus Jakarta Sans"/>
              </a:rPr>
              <a:t>Création des mesures complexes DAX et développement du dashboard Power BI.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8124" y="2962275"/>
            <a:ext cx="372274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SEMAINE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8124" y="3248025"/>
            <a:ext cx="38638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Restitution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8124" y="3600450"/>
            <a:ext cx="30734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Plus Jakarta Sans"/>
              </a:rPr>
              <a:t>Extraction des recommandations stratégiques et rapport final.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895975"/>
            <a:ext cx="10972800" cy="504825"/>
          </a:xfrm>
          <a:prstGeom prst="roundRect">
            <a:avLst>
              <a:gd name="adj" fmla="val 18867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614612"/>
            <a:ext cx="5372100" cy="1714500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2614612"/>
            <a:ext cx="5372100" cy="1714500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914650"/>
            <a:ext cx="190500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2914650"/>
            <a:ext cx="190500" cy="19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10. RECOMMANDATIONS INITIALES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667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Priorités d'Action pour FinTrust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238125" y="6048375"/>
            <a:ext cx="12668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Toutes les livrables S1 sont validés et conformes aux exigences d'AnalystLab Africa.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281362"/>
            <a:ext cx="49149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Investir en priorité sur la stabilité du canal Mobile App et POS pour faire baisser le taux d'échec sous les 3%.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6525" y="3281362"/>
            <a:ext cx="49149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Calibrer les règles d'alerte pour filtrer efficacement les 19.6% de révisions sans impacter l'expérience des clients légitimes.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0625" y="2890837"/>
            <a:ext cx="296287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Infrastructures &amp; Réseau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1325" y="2890837"/>
            <a:ext cx="242530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Gestion des Risques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810250" y="37242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05275" y="4105275"/>
            <a:ext cx="3981450" cy="1409700"/>
          </a:xfrm>
          <a:prstGeom prst="roundRect">
            <a:avLst>
              <a:gd name="adj" fmla="val 1081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212" y="5081587"/>
            <a:ext cx="171450" cy="171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70496" y="2333625"/>
            <a:ext cx="8051006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FFFFF"/>
                </a:solidFill>
                <a:latin typeface="Plus Jakarta Sans"/>
              </a:rPr>
              <a:t>Merci pour votre attention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83593" y="3143250"/>
            <a:ext cx="802481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4A3B8"/>
                </a:solidFill>
                <a:latin typeface="Plus Jakarta Sans"/>
              </a:rPr>
              <a:t>FinTrust Digital Bank — Solution de Business Intelligence &amp; Data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95737" y="4343400"/>
            <a:ext cx="42005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FFFFFF"/>
                </a:solidFill>
                <a:latin typeface="Plus Jakarta Sans"/>
              </a:rPr>
              <a:t>Mouhamadou Andalla Mbaye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7921" y="4705350"/>
            <a:ext cx="35361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Plus Jakarta Sans"/>
              </a:rPr>
              <a:t>Intern Data Analyst — AnalystLab Africa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11303" y="5057775"/>
            <a:ext cx="303609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F1F5F9"/>
                </a:solidFill>
                <a:latin typeface="Plus Jakarta Sans"/>
              </a:rPr>
              <a:t>m.andalla.mbaye@gmail.com</a:t>
            </a:r>
          </a:p>
        </p:txBody>
      </p:sp>
      <p:pic>
        <p:nvPicPr>
          <p:cNvPr id="12" name="Image 11" descr="Photo de profil de analystlabafrica">
            <a:extLst>
              <a:ext uri="{FF2B5EF4-FFF2-40B4-BE49-F238E27FC236}">
                <a16:creationId xmlns:a16="http://schemas.microsoft.com/office/drawing/2014/main" id="{F3D4557F-EDC6-9079-03EE-88D66900D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8893" y="521288"/>
            <a:ext cx="1574212" cy="15742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926</Words>
  <Application>Microsoft Office PowerPoint</Application>
  <PresentationFormat>Grand écran</PresentationFormat>
  <Paragraphs>149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Arial</vt:lpstr>
      <vt:lpstr>Calibri</vt:lpstr>
      <vt:lpstr>Plus Jakarta Sans</vt:lpstr>
      <vt:lpstr>monospace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Mouhamadou Andalla Mbaye</dc:creator>
  <cp:keywords/>
  <dc:description>generated using python-pptx</dc:description>
  <cp:lastModifiedBy>Mouhamadou Andalla Mbaye</cp:lastModifiedBy>
  <cp:revision>3</cp:revision>
  <dcterms:created xsi:type="dcterms:W3CDTF">2013-01-27T09:14:16Z</dcterms:created>
  <dcterms:modified xsi:type="dcterms:W3CDTF">2026-09-19T18:10:28Z</dcterms:modified>
  <cp:category/>
</cp:coreProperties>
</file>